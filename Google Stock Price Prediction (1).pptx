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lacial Indifference Bold" charset="1" panose="00000800000000000000"/>
      <p:regular r:id="rId24"/>
    </p:embeddedFont>
    <p:embeddedFont>
      <p:font typeface="Glacial Indifference" charset="1" panose="00000000000000000000"/>
      <p:regular r:id="rId25"/>
    </p:embeddedFont>
    <p:embeddedFont>
      <p:font typeface="Open Sans Bold" charset="1" panose="020B08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doi.org/10.1186/s40537-021-00495-x" TargetMode="External" Type="http://schemas.openxmlformats.org/officeDocument/2006/relationships/hyperlink"/><Relationship Id="rId5" Target="https://plotly.com/python/distplot/" TargetMode="External" Type="http://schemas.openxmlformats.org/officeDocument/2006/relationships/hyperlink"/><Relationship Id="rId6" Target="https://plotly.com/python/candlestick-charts/" TargetMode="External" Type="http://schemas.openxmlformats.org/officeDocument/2006/relationships/hyperlink"/><Relationship Id="rId7" Target="https://stackoverflow.com/questions/73707690/how-to-increment-the-size-of-candlesticks-with-plotly" TargetMode="External" Type="http://schemas.openxmlformats.org/officeDocument/2006/relationships/hyperlink"/><Relationship Id="rId8" Target="https://www.geeksforgeeks.org/how-to-use-yfinance-api-with-python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21225" y="737406"/>
            <a:ext cx="2993741" cy="1190692"/>
          </a:xfrm>
          <a:custGeom>
            <a:avLst/>
            <a:gdLst/>
            <a:ahLst/>
            <a:cxnLst/>
            <a:rect r="r" b="b" t="t" l="l"/>
            <a:pathLst>
              <a:path h="1190692" w="2993741">
                <a:moveTo>
                  <a:pt x="0" y="0"/>
                </a:moveTo>
                <a:lnTo>
                  <a:pt x="2993740" y="0"/>
                </a:lnTo>
                <a:lnTo>
                  <a:pt x="2993740" y="1190692"/>
                </a:lnTo>
                <a:lnTo>
                  <a:pt x="0" y="1190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64668" y="3440492"/>
            <a:ext cx="13506854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PREDICTING STOCK PRICES</a:t>
            </a:r>
            <a:r>
              <a:rPr lang="en-US" sz="5000" spc="17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USING A </a:t>
            </a:r>
          </a:p>
          <a:p>
            <a:pPr algn="ctr">
              <a:lnSpc>
                <a:spcPts val="6000"/>
              </a:lnSpc>
            </a:pPr>
            <a:r>
              <a:rPr lang="en-US" b="true" sz="500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THREE-LAYER LSTM MODEL</a:t>
            </a:r>
            <a:r>
              <a:rPr lang="en-US" sz="5000" spc="17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ON </a:t>
            </a:r>
          </a:p>
          <a:p>
            <a:pPr algn="ctr">
              <a:lnSpc>
                <a:spcPts val="6000"/>
              </a:lnSpc>
            </a:pPr>
            <a:r>
              <a:rPr lang="en-US" b="true" sz="500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ALPHABET INC</a:t>
            </a:r>
            <a:r>
              <a:rPr lang="en-US" sz="5000" spc="17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(GOOG)</a:t>
            </a:r>
          </a:p>
          <a:p>
            <a:pPr algn="ctr">
              <a:lnSpc>
                <a:spcPts val="60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364668" y="7945817"/>
            <a:ext cx="12625348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24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Presenter: 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Dwij Kishor Siyal</a:t>
            </a:r>
          </a:p>
          <a:p>
            <a:pPr algn="l">
              <a:lnSpc>
                <a:spcPts val="3749"/>
              </a:lnSpc>
            </a:pPr>
            <a:r>
              <a:rPr lang="en-US" sz="2499" spc="24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200492977</a:t>
            </a:r>
          </a:p>
          <a:p>
            <a:pPr algn="l">
              <a:lnSpc>
                <a:spcPts val="3749"/>
              </a:lnSpc>
            </a:pPr>
            <a:r>
              <a:rPr lang="en-US" sz="2499" spc="24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Course: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CS 715 - Advanced Machine Learning </a:t>
            </a:r>
          </a:p>
          <a:p>
            <a:pPr algn="l">
              <a:lnSpc>
                <a:spcPts val="3749"/>
              </a:lnSpc>
            </a:pPr>
            <a:r>
              <a:rPr lang="en-US" sz="2499" spc="24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Guide: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Professor Yao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6541"/>
            <a:ext cx="162306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075825" y="1582233"/>
            <a:ext cx="4136349" cy="1093449"/>
            <a:chOff x="0" y="0"/>
            <a:chExt cx="5515132" cy="145793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515132" cy="1457931"/>
              <a:chOff x="0" y="0"/>
              <a:chExt cx="1089409" cy="28798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89409" cy="287986"/>
              </a:xfrm>
              <a:custGeom>
                <a:avLst/>
                <a:gdLst/>
                <a:ahLst/>
                <a:cxnLst/>
                <a:rect r="r" b="b" t="t" l="l"/>
                <a:pathLst>
                  <a:path h="287986" w="1089409">
                    <a:moveTo>
                      <a:pt x="95456" y="0"/>
                    </a:moveTo>
                    <a:lnTo>
                      <a:pt x="993953" y="0"/>
                    </a:lnTo>
                    <a:cubicBezTo>
                      <a:pt x="1046672" y="0"/>
                      <a:pt x="1089409" y="42737"/>
                      <a:pt x="1089409" y="95456"/>
                    </a:cubicBezTo>
                    <a:lnTo>
                      <a:pt x="1089409" y="192531"/>
                    </a:lnTo>
                    <a:cubicBezTo>
                      <a:pt x="1089409" y="245249"/>
                      <a:pt x="1046672" y="287986"/>
                      <a:pt x="993953" y="287986"/>
                    </a:cubicBezTo>
                    <a:lnTo>
                      <a:pt x="95456" y="287986"/>
                    </a:lnTo>
                    <a:cubicBezTo>
                      <a:pt x="42737" y="287986"/>
                      <a:pt x="0" y="245249"/>
                      <a:pt x="0" y="192531"/>
                    </a:cubicBezTo>
                    <a:lnTo>
                      <a:pt x="0" y="95456"/>
                    </a:lnTo>
                    <a:cubicBezTo>
                      <a:pt x="0" y="42737"/>
                      <a:pt x="42737" y="0"/>
                      <a:pt x="95456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89409" cy="326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21653" y="357491"/>
              <a:ext cx="447182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3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Introduction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17488" y="614217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4313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75825" y="4910098"/>
            <a:ext cx="4136349" cy="1093449"/>
            <a:chOff x="0" y="0"/>
            <a:chExt cx="5515132" cy="145793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15132" cy="1457931"/>
              <a:chOff x="0" y="0"/>
              <a:chExt cx="1089409" cy="2879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89409" cy="287986"/>
              </a:xfrm>
              <a:custGeom>
                <a:avLst/>
                <a:gdLst/>
                <a:ahLst/>
                <a:cxnLst/>
                <a:rect r="r" b="b" t="t" l="l"/>
                <a:pathLst>
                  <a:path h="287986" w="1089409">
                    <a:moveTo>
                      <a:pt x="95456" y="0"/>
                    </a:moveTo>
                    <a:lnTo>
                      <a:pt x="993953" y="0"/>
                    </a:lnTo>
                    <a:cubicBezTo>
                      <a:pt x="1046672" y="0"/>
                      <a:pt x="1089409" y="42737"/>
                      <a:pt x="1089409" y="95456"/>
                    </a:cubicBezTo>
                    <a:lnTo>
                      <a:pt x="1089409" y="192531"/>
                    </a:lnTo>
                    <a:cubicBezTo>
                      <a:pt x="1089409" y="245249"/>
                      <a:pt x="1046672" y="287986"/>
                      <a:pt x="993953" y="287986"/>
                    </a:cubicBezTo>
                    <a:lnTo>
                      <a:pt x="95456" y="287986"/>
                    </a:lnTo>
                    <a:cubicBezTo>
                      <a:pt x="42737" y="287986"/>
                      <a:pt x="0" y="245249"/>
                      <a:pt x="0" y="192531"/>
                    </a:cubicBezTo>
                    <a:lnTo>
                      <a:pt x="0" y="95456"/>
                    </a:lnTo>
                    <a:cubicBezTo>
                      <a:pt x="0" y="42737"/>
                      <a:pt x="42737" y="0"/>
                      <a:pt x="95456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89409" cy="326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21653" y="357491"/>
              <a:ext cx="447182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3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Results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75825" y="3245149"/>
            <a:ext cx="4136349" cy="1093449"/>
            <a:chOff x="0" y="0"/>
            <a:chExt cx="5515132" cy="145793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515132" cy="1457931"/>
              <a:chOff x="0" y="0"/>
              <a:chExt cx="1089409" cy="28798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89409" cy="287986"/>
              </a:xfrm>
              <a:custGeom>
                <a:avLst/>
                <a:gdLst/>
                <a:ahLst/>
                <a:cxnLst/>
                <a:rect r="r" b="b" t="t" l="l"/>
                <a:pathLst>
                  <a:path h="287986" w="1089409">
                    <a:moveTo>
                      <a:pt x="95456" y="0"/>
                    </a:moveTo>
                    <a:lnTo>
                      <a:pt x="993953" y="0"/>
                    </a:lnTo>
                    <a:cubicBezTo>
                      <a:pt x="1046672" y="0"/>
                      <a:pt x="1089409" y="42737"/>
                      <a:pt x="1089409" y="95456"/>
                    </a:cubicBezTo>
                    <a:lnTo>
                      <a:pt x="1089409" y="192531"/>
                    </a:lnTo>
                    <a:cubicBezTo>
                      <a:pt x="1089409" y="245249"/>
                      <a:pt x="1046672" y="287986"/>
                      <a:pt x="993953" y="287986"/>
                    </a:cubicBezTo>
                    <a:lnTo>
                      <a:pt x="95456" y="287986"/>
                    </a:lnTo>
                    <a:cubicBezTo>
                      <a:pt x="42737" y="287986"/>
                      <a:pt x="0" y="245249"/>
                      <a:pt x="0" y="192531"/>
                    </a:cubicBezTo>
                    <a:lnTo>
                      <a:pt x="0" y="95456"/>
                    </a:lnTo>
                    <a:cubicBezTo>
                      <a:pt x="0" y="42737"/>
                      <a:pt x="42737" y="0"/>
                      <a:pt x="95456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89409" cy="326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21653" y="357491"/>
              <a:ext cx="447182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3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Methodology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75825" y="6575046"/>
            <a:ext cx="4136349" cy="1093449"/>
            <a:chOff x="0" y="0"/>
            <a:chExt cx="5515132" cy="145793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515132" cy="1457931"/>
              <a:chOff x="0" y="0"/>
              <a:chExt cx="1089409" cy="28798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89409" cy="287986"/>
              </a:xfrm>
              <a:custGeom>
                <a:avLst/>
                <a:gdLst/>
                <a:ahLst/>
                <a:cxnLst/>
                <a:rect r="r" b="b" t="t" l="l"/>
                <a:pathLst>
                  <a:path h="287986" w="1089409">
                    <a:moveTo>
                      <a:pt x="95456" y="0"/>
                    </a:moveTo>
                    <a:lnTo>
                      <a:pt x="993953" y="0"/>
                    </a:lnTo>
                    <a:cubicBezTo>
                      <a:pt x="1046672" y="0"/>
                      <a:pt x="1089409" y="42737"/>
                      <a:pt x="1089409" y="95456"/>
                    </a:cubicBezTo>
                    <a:lnTo>
                      <a:pt x="1089409" y="192531"/>
                    </a:lnTo>
                    <a:cubicBezTo>
                      <a:pt x="1089409" y="245249"/>
                      <a:pt x="1046672" y="287986"/>
                      <a:pt x="993953" y="287986"/>
                    </a:cubicBezTo>
                    <a:lnTo>
                      <a:pt x="95456" y="287986"/>
                    </a:lnTo>
                    <a:cubicBezTo>
                      <a:pt x="42737" y="287986"/>
                      <a:pt x="0" y="245249"/>
                      <a:pt x="0" y="192531"/>
                    </a:cubicBezTo>
                    <a:lnTo>
                      <a:pt x="0" y="95456"/>
                    </a:lnTo>
                    <a:cubicBezTo>
                      <a:pt x="0" y="42737"/>
                      <a:pt x="42737" y="0"/>
                      <a:pt x="95456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89409" cy="326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21653" y="357491"/>
              <a:ext cx="447182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3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Future Work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75825" y="8239995"/>
            <a:ext cx="4136349" cy="1093449"/>
            <a:chOff x="0" y="0"/>
            <a:chExt cx="5515132" cy="145793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515132" cy="1457931"/>
              <a:chOff x="0" y="0"/>
              <a:chExt cx="1089409" cy="28798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89409" cy="287986"/>
              </a:xfrm>
              <a:custGeom>
                <a:avLst/>
                <a:gdLst/>
                <a:ahLst/>
                <a:cxnLst/>
                <a:rect r="r" b="b" t="t" l="l"/>
                <a:pathLst>
                  <a:path h="287986" w="1089409">
                    <a:moveTo>
                      <a:pt x="95456" y="0"/>
                    </a:moveTo>
                    <a:lnTo>
                      <a:pt x="993953" y="0"/>
                    </a:lnTo>
                    <a:cubicBezTo>
                      <a:pt x="1046672" y="0"/>
                      <a:pt x="1089409" y="42737"/>
                      <a:pt x="1089409" y="95456"/>
                    </a:cubicBezTo>
                    <a:lnTo>
                      <a:pt x="1089409" y="192531"/>
                    </a:lnTo>
                    <a:cubicBezTo>
                      <a:pt x="1089409" y="245249"/>
                      <a:pt x="1046672" y="287986"/>
                      <a:pt x="993953" y="287986"/>
                    </a:cubicBezTo>
                    <a:lnTo>
                      <a:pt x="95456" y="287986"/>
                    </a:lnTo>
                    <a:cubicBezTo>
                      <a:pt x="42737" y="287986"/>
                      <a:pt x="0" y="245249"/>
                      <a:pt x="0" y="192531"/>
                    </a:cubicBezTo>
                    <a:lnTo>
                      <a:pt x="0" y="95456"/>
                    </a:lnTo>
                    <a:cubicBezTo>
                      <a:pt x="0" y="42737"/>
                      <a:pt x="42737" y="0"/>
                      <a:pt x="95456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089409" cy="326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21653" y="357491"/>
              <a:ext cx="447182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3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Conclusion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878082" y="1403539"/>
            <a:ext cx="395486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78082" y="2980482"/>
            <a:ext cx="395486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78082" y="4664831"/>
            <a:ext cx="395486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78082" y="6308346"/>
            <a:ext cx="395486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78082" y="7947991"/>
            <a:ext cx="395486" cy="67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1340" y="2196050"/>
            <a:ext cx="14705320" cy="604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Challenges and Imp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ortance of Stock Price Prediction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Stock market prediction is complex due to volatility and non-linear data patterns.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Helps traders and investors make informed decisions, mitigate risks, and maximize profits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Hansun and Young's Three-Layer LSTM Model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Designed for predicting closing prices in the LQ45 index.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Effective in capturing temporal dependencies, evaluated with MAPE and RMSE metrics.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Adaptation for Alphabet Inc.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Extended to predict Open, High, Low, and Close prices of Alphabet Inc.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Tested adaptability in the NASDAQ market with focus on candlestick charts and practical trading strategies.</a:t>
            </a:r>
          </a:p>
          <a:p>
            <a:pPr algn="just">
              <a:lnSpc>
                <a:spcPts val="374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1340" y="2229833"/>
            <a:ext cx="14705320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Objective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and evaluate Hansun and Young's three-layer LSTM model for predicting Alphabet Inc. (GOOG) stock prices (Open, High, Low, Close).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 and Validation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Adapted the model to a new dataset to assess robustness across different market conditions.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Exploring Practical Implications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Analyzed candlestick-based predictions to identify favorable and risky situations.</a:t>
            </a:r>
          </a:p>
          <a:p>
            <a:pPr algn="just">
              <a:lnSpc>
                <a:spcPts val="374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16447" y="1556804"/>
            <a:ext cx="14542853" cy="884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1: Data Collection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Gathered Alphabet Inc. (GOOG) stock data using Yahoo Finance API. 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Dated f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rom 1-Jan-2010 to 31-Dec 2023. (daily data)</a:t>
            </a:r>
          </a:p>
          <a:p>
            <a:pPr algn="just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2: Data Preprocessing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Pandas and Scikit-learn libraries to clean, normalize, and prepare the data for analysis.</a:t>
            </a:r>
          </a:p>
          <a:p>
            <a:pPr algn="just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3: Model Design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Built the three-layer LSTM model with variation using TensorFlow's Sequential API.</a:t>
            </a:r>
          </a:p>
          <a:p>
            <a:pPr algn="just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4: Model Training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Trained the model on the preprocessed data to predict Open, High, Low, and Close prices.</a:t>
            </a:r>
          </a:p>
          <a:p>
            <a:pPr algn="just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5: Model Evaluation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Assessed model performance using metrics like MAPE and RMSE.</a:t>
            </a:r>
          </a:p>
          <a:p>
            <a:pPr algn="just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6: Results Visualization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Visualized findings and trends with Plotly and Matplotlib libraries.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87628" y="3370022"/>
            <a:ext cx="8886657" cy="6194484"/>
            <a:chOff x="0" y="0"/>
            <a:chExt cx="1368730" cy="9540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8730" cy="954079"/>
            </a:xfrm>
            <a:custGeom>
              <a:avLst/>
              <a:gdLst/>
              <a:ahLst/>
              <a:cxnLst/>
              <a:rect r="r" b="b" t="t" l="l"/>
              <a:pathLst>
                <a:path h="954079" w="1368730">
                  <a:moveTo>
                    <a:pt x="44430" y="0"/>
                  </a:moveTo>
                  <a:lnTo>
                    <a:pt x="1324299" y="0"/>
                  </a:lnTo>
                  <a:cubicBezTo>
                    <a:pt x="1348838" y="0"/>
                    <a:pt x="1368730" y="19892"/>
                    <a:pt x="1368730" y="44430"/>
                  </a:cubicBezTo>
                  <a:lnTo>
                    <a:pt x="1368730" y="909649"/>
                  </a:lnTo>
                  <a:cubicBezTo>
                    <a:pt x="1368730" y="934187"/>
                    <a:pt x="1348838" y="954079"/>
                    <a:pt x="1324299" y="954079"/>
                  </a:cubicBezTo>
                  <a:lnTo>
                    <a:pt x="44430" y="954079"/>
                  </a:lnTo>
                  <a:cubicBezTo>
                    <a:pt x="32647" y="954079"/>
                    <a:pt x="21346" y="949398"/>
                    <a:pt x="13013" y="941066"/>
                  </a:cubicBezTo>
                  <a:cubicBezTo>
                    <a:pt x="4681" y="932734"/>
                    <a:pt x="0" y="921433"/>
                    <a:pt x="0" y="909649"/>
                  </a:cubicBezTo>
                  <a:lnTo>
                    <a:pt x="0" y="44430"/>
                  </a:lnTo>
                  <a:cubicBezTo>
                    <a:pt x="0" y="19892"/>
                    <a:pt x="19892" y="0"/>
                    <a:pt x="44430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68730" cy="992179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078440" y="3688680"/>
            <a:ext cx="8131119" cy="5569620"/>
          </a:xfrm>
          <a:custGeom>
            <a:avLst/>
            <a:gdLst/>
            <a:ahLst/>
            <a:cxnLst/>
            <a:rect r="r" b="b" t="t" l="l"/>
            <a:pathLst>
              <a:path h="5569620" w="8131119">
                <a:moveTo>
                  <a:pt x="0" y="0"/>
                </a:moveTo>
                <a:lnTo>
                  <a:pt x="8131120" y="0"/>
                </a:lnTo>
                <a:lnTo>
                  <a:pt x="8131120" y="5569620"/>
                </a:lnTo>
                <a:lnTo>
                  <a:pt x="0" y="556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1340" y="2229833"/>
            <a:ext cx="1470532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Displaying data’s last 10 values to get an idea of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schema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346408" y="3910560"/>
            <a:ext cx="7552206" cy="3407339"/>
            <a:chOff x="0" y="0"/>
            <a:chExt cx="1163197" cy="52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3197" cy="524801"/>
            </a:xfrm>
            <a:custGeom>
              <a:avLst/>
              <a:gdLst/>
              <a:ahLst/>
              <a:cxnLst/>
              <a:rect r="r" b="b" t="t" l="l"/>
              <a:pathLst>
                <a:path h="524801" w="1163197">
                  <a:moveTo>
                    <a:pt x="52281" y="0"/>
                  </a:moveTo>
                  <a:lnTo>
                    <a:pt x="1110916" y="0"/>
                  </a:lnTo>
                  <a:cubicBezTo>
                    <a:pt x="1139790" y="0"/>
                    <a:pt x="1163197" y="23407"/>
                    <a:pt x="1163197" y="52281"/>
                  </a:cubicBezTo>
                  <a:lnTo>
                    <a:pt x="1163197" y="472520"/>
                  </a:lnTo>
                  <a:cubicBezTo>
                    <a:pt x="1163197" y="486386"/>
                    <a:pt x="1157688" y="499684"/>
                    <a:pt x="1147884" y="509488"/>
                  </a:cubicBezTo>
                  <a:cubicBezTo>
                    <a:pt x="1138079" y="519293"/>
                    <a:pt x="1124781" y="524801"/>
                    <a:pt x="1110916" y="524801"/>
                  </a:cubicBezTo>
                  <a:lnTo>
                    <a:pt x="52281" y="524801"/>
                  </a:lnTo>
                  <a:cubicBezTo>
                    <a:pt x="38415" y="524801"/>
                    <a:pt x="25117" y="519293"/>
                    <a:pt x="15313" y="509488"/>
                  </a:cubicBezTo>
                  <a:cubicBezTo>
                    <a:pt x="5508" y="499684"/>
                    <a:pt x="0" y="486386"/>
                    <a:pt x="0" y="472520"/>
                  </a:cubicBezTo>
                  <a:lnTo>
                    <a:pt x="0" y="52281"/>
                  </a:lnTo>
                  <a:cubicBezTo>
                    <a:pt x="0" y="38415"/>
                    <a:pt x="5508" y="25117"/>
                    <a:pt x="15313" y="15313"/>
                  </a:cubicBezTo>
                  <a:cubicBezTo>
                    <a:pt x="25117" y="5508"/>
                    <a:pt x="38415" y="0"/>
                    <a:pt x="52281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63197" cy="562901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786900" y="4191556"/>
            <a:ext cx="6714200" cy="2805248"/>
          </a:xfrm>
          <a:custGeom>
            <a:avLst/>
            <a:gdLst/>
            <a:ahLst/>
            <a:cxnLst/>
            <a:rect r="r" b="b" t="t" l="l"/>
            <a:pathLst>
              <a:path h="2805248" w="6714200">
                <a:moveTo>
                  <a:pt x="0" y="0"/>
                </a:moveTo>
                <a:lnTo>
                  <a:pt x="6714200" y="0"/>
                </a:lnTo>
                <a:lnTo>
                  <a:pt x="6714200" y="2805248"/>
                </a:lnTo>
                <a:lnTo>
                  <a:pt x="0" y="280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1340" y="2229833"/>
            <a:ext cx="147053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Forward Fill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method to counter any null values in the dataset.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google_stock_df.ffill(inplace=True)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160598" y="4077683"/>
            <a:ext cx="7484639" cy="1719954"/>
            <a:chOff x="0" y="0"/>
            <a:chExt cx="1152790" cy="264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2790" cy="264909"/>
            </a:xfrm>
            <a:custGeom>
              <a:avLst/>
              <a:gdLst/>
              <a:ahLst/>
              <a:cxnLst/>
              <a:rect r="r" b="b" t="t" l="l"/>
              <a:pathLst>
                <a:path h="264909" w="1152790">
                  <a:moveTo>
                    <a:pt x="52753" y="0"/>
                  </a:moveTo>
                  <a:lnTo>
                    <a:pt x="1100037" y="0"/>
                  </a:lnTo>
                  <a:cubicBezTo>
                    <a:pt x="1129172" y="0"/>
                    <a:pt x="1152790" y="23618"/>
                    <a:pt x="1152790" y="52753"/>
                  </a:cubicBezTo>
                  <a:lnTo>
                    <a:pt x="1152790" y="212156"/>
                  </a:lnTo>
                  <a:cubicBezTo>
                    <a:pt x="1152790" y="226147"/>
                    <a:pt x="1147232" y="239565"/>
                    <a:pt x="1137339" y="249458"/>
                  </a:cubicBezTo>
                  <a:cubicBezTo>
                    <a:pt x="1127446" y="259351"/>
                    <a:pt x="1114028" y="264909"/>
                    <a:pt x="1100037" y="264909"/>
                  </a:cubicBezTo>
                  <a:lnTo>
                    <a:pt x="52753" y="264909"/>
                  </a:lnTo>
                  <a:cubicBezTo>
                    <a:pt x="23618" y="264909"/>
                    <a:pt x="0" y="241290"/>
                    <a:pt x="0" y="212156"/>
                  </a:cubicBezTo>
                  <a:lnTo>
                    <a:pt x="0" y="52753"/>
                  </a:lnTo>
                  <a:cubicBezTo>
                    <a:pt x="0" y="38762"/>
                    <a:pt x="5558" y="25344"/>
                    <a:pt x="15451" y="15451"/>
                  </a:cubicBezTo>
                  <a:cubicBezTo>
                    <a:pt x="25344" y="5558"/>
                    <a:pt x="38762" y="0"/>
                    <a:pt x="52753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52790" cy="303009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528389" y="4365354"/>
            <a:ext cx="6766519" cy="1115981"/>
          </a:xfrm>
          <a:custGeom>
            <a:avLst/>
            <a:gdLst/>
            <a:ahLst/>
            <a:cxnLst/>
            <a:rect r="r" b="b" t="t" l="l"/>
            <a:pathLst>
              <a:path h="1115981" w="6766519">
                <a:moveTo>
                  <a:pt x="0" y="0"/>
                </a:moveTo>
                <a:lnTo>
                  <a:pt x="6766520" y="0"/>
                </a:lnTo>
                <a:lnTo>
                  <a:pt x="6766520" y="1115982"/>
                </a:lnTo>
                <a:lnTo>
                  <a:pt x="0" y="1115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528389" y="5920682"/>
            <a:ext cx="6766519" cy="1988429"/>
            <a:chOff x="0" y="0"/>
            <a:chExt cx="1042185" cy="30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2185" cy="306259"/>
            </a:xfrm>
            <a:custGeom>
              <a:avLst/>
              <a:gdLst/>
              <a:ahLst/>
              <a:cxnLst/>
              <a:rect r="r" b="b" t="t" l="l"/>
              <a:pathLst>
                <a:path h="306259" w="1042185">
                  <a:moveTo>
                    <a:pt x="58352" y="0"/>
                  </a:moveTo>
                  <a:lnTo>
                    <a:pt x="983833" y="0"/>
                  </a:lnTo>
                  <a:cubicBezTo>
                    <a:pt x="999309" y="0"/>
                    <a:pt x="1014151" y="6148"/>
                    <a:pt x="1025094" y="17091"/>
                  </a:cubicBezTo>
                  <a:cubicBezTo>
                    <a:pt x="1036037" y="28034"/>
                    <a:pt x="1042185" y="42876"/>
                    <a:pt x="1042185" y="58352"/>
                  </a:cubicBezTo>
                  <a:lnTo>
                    <a:pt x="1042185" y="247908"/>
                  </a:lnTo>
                  <a:cubicBezTo>
                    <a:pt x="1042185" y="280134"/>
                    <a:pt x="1016060" y="306259"/>
                    <a:pt x="983833" y="306259"/>
                  </a:cubicBezTo>
                  <a:lnTo>
                    <a:pt x="58352" y="306259"/>
                  </a:lnTo>
                  <a:cubicBezTo>
                    <a:pt x="26125" y="306259"/>
                    <a:pt x="0" y="280134"/>
                    <a:pt x="0" y="247908"/>
                  </a:cubicBezTo>
                  <a:lnTo>
                    <a:pt x="0" y="58352"/>
                  </a:lnTo>
                  <a:cubicBezTo>
                    <a:pt x="0" y="26125"/>
                    <a:pt x="26125" y="0"/>
                    <a:pt x="58352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2185" cy="344359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866286" y="6208199"/>
            <a:ext cx="6090726" cy="1437411"/>
          </a:xfrm>
          <a:custGeom>
            <a:avLst/>
            <a:gdLst/>
            <a:ahLst/>
            <a:cxnLst/>
            <a:rect r="r" b="b" t="t" l="l"/>
            <a:pathLst>
              <a:path h="1437411" w="6090726">
                <a:moveTo>
                  <a:pt x="0" y="0"/>
                </a:moveTo>
                <a:lnTo>
                  <a:pt x="6090726" y="0"/>
                </a:lnTo>
                <a:lnTo>
                  <a:pt x="6090726" y="1437411"/>
                </a:lnTo>
                <a:lnTo>
                  <a:pt x="0" y="1437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91340" y="2229833"/>
            <a:ext cx="1470532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MinMaxScaler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 normalize data in the range of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0-1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Created sequence of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60 time-steps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for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LSTM input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Divided training and testing sets into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80:20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ratio.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195868" y="4197720"/>
            <a:ext cx="11862480" cy="5161931"/>
            <a:chOff x="0" y="0"/>
            <a:chExt cx="1827068" cy="7950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7069" cy="795045"/>
            </a:xfrm>
            <a:custGeom>
              <a:avLst/>
              <a:gdLst/>
              <a:ahLst/>
              <a:cxnLst/>
              <a:rect r="r" b="b" t="t" l="l"/>
              <a:pathLst>
                <a:path h="795045" w="1827069">
                  <a:moveTo>
                    <a:pt x="33285" y="0"/>
                  </a:moveTo>
                  <a:lnTo>
                    <a:pt x="1793784" y="0"/>
                  </a:lnTo>
                  <a:cubicBezTo>
                    <a:pt x="1802611" y="0"/>
                    <a:pt x="1811078" y="3507"/>
                    <a:pt x="1817320" y="9749"/>
                  </a:cubicBezTo>
                  <a:cubicBezTo>
                    <a:pt x="1823562" y="15991"/>
                    <a:pt x="1827069" y="24457"/>
                    <a:pt x="1827069" y="33285"/>
                  </a:cubicBezTo>
                  <a:lnTo>
                    <a:pt x="1827069" y="761760"/>
                  </a:lnTo>
                  <a:cubicBezTo>
                    <a:pt x="1827069" y="780143"/>
                    <a:pt x="1812167" y="795045"/>
                    <a:pt x="1793784" y="795045"/>
                  </a:cubicBezTo>
                  <a:lnTo>
                    <a:pt x="33285" y="795045"/>
                  </a:lnTo>
                  <a:cubicBezTo>
                    <a:pt x="24457" y="795045"/>
                    <a:pt x="15991" y="791538"/>
                    <a:pt x="9749" y="785296"/>
                  </a:cubicBezTo>
                  <a:cubicBezTo>
                    <a:pt x="3507" y="779054"/>
                    <a:pt x="0" y="770588"/>
                    <a:pt x="0" y="761760"/>
                  </a:cubicBezTo>
                  <a:lnTo>
                    <a:pt x="0" y="33285"/>
                  </a:lnTo>
                  <a:cubicBezTo>
                    <a:pt x="0" y="24457"/>
                    <a:pt x="3507" y="15991"/>
                    <a:pt x="9749" y="9749"/>
                  </a:cubicBezTo>
                  <a:cubicBezTo>
                    <a:pt x="15991" y="3507"/>
                    <a:pt x="24457" y="0"/>
                    <a:pt x="33285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7068" cy="833145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555733" y="4451966"/>
            <a:ext cx="11176533" cy="4626292"/>
          </a:xfrm>
          <a:custGeom>
            <a:avLst/>
            <a:gdLst/>
            <a:ahLst/>
            <a:cxnLst/>
            <a:rect r="r" b="b" t="t" l="l"/>
            <a:pathLst>
              <a:path h="4626292" w="11176533">
                <a:moveTo>
                  <a:pt x="0" y="0"/>
                </a:moveTo>
                <a:lnTo>
                  <a:pt x="11176534" y="0"/>
                </a:lnTo>
                <a:lnTo>
                  <a:pt x="11176534" y="4626292"/>
                </a:lnTo>
                <a:lnTo>
                  <a:pt x="0" y="4626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1340" y="2229833"/>
            <a:ext cx="1470532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the basic architecture of Hansun, S., &amp; Young, A from their paper and modified by adding one more Layer of LSTM and dropout layer keeping it simple enough and effective for four variable prediction.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model.summary()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01151" y="4062586"/>
            <a:ext cx="11859612" cy="4505305"/>
            <a:chOff x="0" y="0"/>
            <a:chExt cx="1826627" cy="693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6627" cy="693911"/>
            </a:xfrm>
            <a:custGeom>
              <a:avLst/>
              <a:gdLst/>
              <a:ahLst/>
              <a:cxnLst/>
              <a:rect r="r" b="b" t="t" l="l"/>
              <a:pathLst>
                <a:path h="693911" w="1826627">
                  <a:moveTo>
                    <a:pt x="33293" y="0"/>
                  </a:moveTo>
                  <a:lnTo>
                    <a:pt x="1793334" y="0"/>
                  </a:lnTo>
                  <a:cubicBezTo>
                    <a:pt x="1811721" y="0"/>
                    <a:pt x="1826627" y="14906"/>
                    <a:pt x="1826627" y="33293"/>
                  </a:cubicBezTo>
                  <a:lnTo>
                    <a:pt x="1826627" y="660618"/>
                  </a:lnTo>
                  <a:cubicBezTo>
                    <a:pt x="1826627" y="679005"/>
                    <a:pt x="1811721" y="693911"/>
                    <a:pt x="1793334" y="693911"/>
                  </a:cubicBezTo>
                  <a:lnTo>
                    <a:pt x="33293" y="693911"/>
                  </a:lnTo>
                  <a:cubicBezTo>
                    <a:pt x="14906" y="693911"/>
                    <a:pt x="0" y="679005"/>
                    <a:pt x="0" y="660618"/>
                  </a:cubicBezTo>
                  <a:lnTo>
                    <a:pt x="0" y="33293"/>
                  </a:lnTo>
                  <a:cubicBezTo>
                    <a:pt x="0" y="14906"/>
                    <a:pt x="14906" y="0"/>
                    <a:pt x="33293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6627" cy="732011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505992" y="4291031"/>
            <a:ext cx="11276017" cy="4043420"/>
          </a:xfrm>
          <a:custGeom>
            <a:avLst/>
            <a:gdLst/>
            <a:ahLst/>
            <a:cxnLst/>
            <a:rect r="r" b="b" t="t" l="l"/>
            <a:pathLst>
              <a:path h="4043420" w="11276017">
                <a:moveTo>
                  <a:pt x="0" y="0"/>
                </a:moveTo>
                <a:lnTo>
                  <a:pt x="11276016" y="0"/>
                </a:lnTo>
                <a:lnTo>
                  <a:pt x="11276016" y="4043421"/>
                </a:lnTo>
                <a:lnTo>
                  <a:pt x="0" y="4043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1340" y="2229833"/>
            <a:ext cx="1470532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Performed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20 epochs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on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batch size of 32 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(similar to what Hansun, S., &amp; Young, A used in their model).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Optimizer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Adam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Loss function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mean_squared_error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60020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87925" y="4583256"/>
            <a:ext cx="9176242" cy="2295456"/>
            <a:chOff x="0" y="0"/>
            <a:chExt cx="1413332" cy="3535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3332" cy="353548"/>
            </a:xfrm>
            <a:custGeom>
              <a:avLst/>
              <a:gdLst/>
              <a:ahLst/>
              <a:cxnLst/>
              <a:rect r="r" b="b" t="t" l="l"/>
              <a:pathLst>
                <a:path h="353548" w="1413332">
                  <a:moveTo>
                    <a:pt x="43028" y="0"/>
                  </a:moveTo>
                  <a:lnTo>
                    <a:pt x="1370304" y="0"/>
                  </a:lnTo>
                  <a:cubicBezTo>
                    <a:pt x="1394068" y="0"/>
                    <a:pt x="1413332" y="19264"/>
                    <a:pt x="1413332" y="43028"/>
                  </a:cubicBezTo>
                  <a:lnTo>
                    <a:pt x="1413332" y="310520"/>
                  </a:lnTo>
                  <a:cubicBezTo>
                    <a:pt x="1413332" y="334283"/>
                    <a:pt x="1394068" y="353548"/>
                    <a:pt x="1370304" y="353548"/>
                  </a:cubicBezTo>
                  <a:lnTo>
                    <a:pt x="43028" y="353548"/>
                  </a:lnTo>
                  <a:cubicBezTo>
                    <a:pt x="19264" y="353548"/>
                    <a:pt x="0" y="334283"/>
                    <a:pt x="0" y="310520"/>
                  </a:cubicBezTo>
                  <a:lnTo>
                    <a:pt x="0" y="43028"/>
                  </a:lnTo>
                  <a:cubicBezTo>
                    <a:pt x="0" y="19264"/>
                    <a:pt x="19264" y="0"/>
                    <a:pt x="43028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13332" cy="391648"/>
            </a:xfrm>
            <a:prstGeom prst="rect">
              <a:avLst/>
            </a:prstGeom>
          </p:spPr>
          <p:txBody>
            <a:bodyPr anchor="ctr" rtlCol="false" tIns="86868" lIns="86868" bIns="86868" rIns="868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813418" y="4848110"/>
            <a:ext cx="8661164" cy="1780350"/>
          </a:xfrm>
          <a:custGeom>
            <a:avLst/>
            <a:gdLst/>
            <a:ahLst/>
            <a:cxnLst/>
            <a:rect r="r" b="b" t="t" l="l"/>
            <a:pathLst>
              <a:path h="1780350" w="8661164">
                <a:moveTo>
                  <a:pt x="0" y="0"/>
                </a:moveTo>
                <a:lnTo>
                  <a:pt x="8661164" y="0"/>
                </a:lnTo>
                <a:lnTo>
                  <a:pt x="8661164" y="1780351"/>
                </a:lnTo>
                <a:lnTo>
                  <a:pt x="0" y="1780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1340" y="2229833"/>
            <a:ext cx="147053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Evaluation metrics for model includes: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RMSE (Root Mean Square Error) 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MAPE (Mean Absolute Percentage Error)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87628" y="1261358"/>
            <a:ext cx="9298770" cy="7996942"/>
          </a:xfrm>
          <a:custGeom>
            <a:avLst/>
            <a:gdLst/>
            <a:ahLst/>
            <a:cxnLst/>
            <a:rect r="r" b="b" t="t" l="l"/>
            <a:pathLst>
              <a:path h="7996942" w="9298770">
                <a:moveTo>
                  <a:pt x="0" y="0"/>
                </a:moveTo>
                <a:lnTo>
                  <a:pt x="9298770" y="0"/>
                </a:lnTo>
                <a:lnTo>
                  <a:pt x="9298770" y="7996942"/>
                </a:lnTo>
                <a:lnTo>
                  <a:pt x="0" y="7996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8689" y="9439275"/>
            <a:ext cx="307062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Single step prediction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61173" y="1300488"/>
            <a:ext cx="11365654" cy="7686023"/>
          </a:xfrm>
          <a:custGeom>
            <a:avLst/>
            <a:gdLst/>
            <a:ahLst/>
            <a:cxnLst/>
            <a:rect r="r" b="b" t="t" l="l"/>
            <a:pathLst>
              <a:path h="7686023" w="11365654">
                <a:moveTo>
                  <a:pt x="0" y="0"/>
                </a:moveTo>
                <a:lnTo>
                  <a:pt x="11365654" y="0"/>
                </a:lnTo>
                <a:lnTo>
                  <a:pt x="11365654" y="7686024"/>
                </a:lnTo>
                <a:lnTo>
                  <a:pt x="0" y="768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74268" y="9210675"/>
            <a:ext cx="561513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Candlestick Visualization of original data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6138" y="9210675"/>
            <a:ext cx="59313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Candlestick Visualization of predicted data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61173" y="1300488"/>
            <a:ext cx="11365654" cy="7686023"/>
          </a:xfrm>
          <a:custGeom>
            <a:avLst/>
            <a:gdLst/>
            <a:ahLst/>
            <a:cxnLst/>
            <a:rect r="r" b="b" t="t" l="l"/>
            <a:pathLst>
              <a:path h="7686023" w="11365654">
                <a:moveTo>
                  <a:pt x="0" y="0"/>
                </a:moveTo>
                <a:lnTo>
                  <a:pt x="11365654" y="0"/>
                </a:lnTo>
                <a:lnTo>
                  <a:pt x="11365654" y="7686024"/>
                </a:lnTo>
                <a:lnTo>
                  <a:pt x="0" y="768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1340" y="2229833"/>
            <a:ext cx="14705320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Multi-Step Predictions: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Future iterations could expand the model to predict multiple future time steps, providing a broader view of potential trends and enabling traders to plan more effectively.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Incorporate Market Indicators: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Adding features such as trading volume, moving averages, RSI, or Bollinger Bands could enhance the model’s ability to predict both upward and downward trends accurately.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Experiment with Loss Functions: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Exploring alternative loss functions, such as Huber Loss or Log-Cosh Loss, may help reduce the sensitivity to outliers and address the bias toward upward trends.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Enhance Model Architecture: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Combining LSTMs with attention mechanisms or convolutional layers could improve feature extraction and provide a more comprehensive understanding of market dynamics.</a:t>
            </a:r>
          </a:p>
          <a:p>
            <a:pPr algn="just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1340" y="2229833"/>
            <a:ext cx="1470532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successfully implemented and evaluated Hansun and Young's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three-layer LSTM model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(with some variations) for predicting four stock price variables of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Alphabet Inc. (GOOG)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results demonstrated the model's ability to capture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temporal patterns in financial data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highlighted its 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potential for practical applications in trading strategies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 addressing its limitations through multi-step forecasting, additional features, and enhanced architectures, the model could serve as a powerful tool for traders and analysts navigating complex financial markets.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3980" y="165100"/>
            <a:ext cx="131800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650495" y="0"/>
            <a:ext cx="637505" cy="682632"/>
            <a:chOff x="0" y="0"/>
            <a:chExt cx="850006" cy="9101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0843" y="0"/>
              <a:ext cx="788321" cy="910176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87053"/>
              <a:ext cx="850006" cy="49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</a:pPr>
              <a:r>
                <a:rPr lang="en-US" sz="22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1340" y="2229833"/>
            <a:ext cx="14705320" cy="558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Hansun, S., &amp; Young, A. (2021). A T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hree-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ayer LSTM 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odel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for Stock Price Prediction - </a:t>
            </a:r>
            <a:r>
              <a:rPr lang="en-US" b="true" sz="2499" spc="24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4" tooltip="https://doi.org/10.1186/s40537-021-00495-x"/>
              </a:rPr>
              <a:t>https://doi.org/10.1186/s40537-021-00495-x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Plotly Documentation: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plot distributions - </a:t>
            </a:r>
            <a:r>
              <a:rPr lang="en-US" b="true" sz="2499" spc="24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5" tooltip="https://plotly.com/python/distplot/"/>
              </a:rPr>
              <a:t>https://plotly.com/python/distplot/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just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candlesticks - </a:t>
            </a:r>
            <a:r>
              <a:rPr lang="en-US" b="true" sz="2499" spc="24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6" tooltip="https://plotly.com/python/candlestick-charts/"/>
              </a:rPr>
              <a:t>https://plotly.com/python/candlestick-charts/</a:t>
            </a:r>
            <a:r>
              <a:rPr lang="en-US" b="true" sz="2499" spc="2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 si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of candlesticks - </a:t>
            </a:r>
            <a:r>
              <a:rPr lang="en-US" b="true" sz="2499" spc="24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7" tooltip="https://stackoverflow.com/questions/73707690/how-to-increment-the-size-of-candlesticks-with-plotly"/>
              </a:rPr>
              <a:t>https://stackoverflow.com/questions/73707690/how-to-increment-the-size-of-candlesticks-with-plotly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just">
              <a:lnSpc>
                <a:spcPts val="3749"/>
              </a:lnSpc>
            </a:pP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use yfinance API in python - </a:t>
            </a:r>
            <a:r>
              <a:rPr lang="en-US" b="true" sz="2499" spc="24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8" tooltip="https://www.geeksforgeeks.org/how-to-use-yfinance-api-with-python/"/>
              </a:rPr>
              <a:t>https://www.geeksforgeeks.org/how-to-use-yfinance-api-with-python/</a:t>
            </a:r>
            <a:r>
              <a:rPr lang="en-US" sz="2499" spc="2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38510"/>
            <a:ext cx="11627497" cy="25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b="true" sz="1469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DAGZMaq3VoQ</dc:identifier>
  <dcterms:modified xsi:type="dcterms:W3CDTF">2011-08-01T06:04:30Z</dcterms:modified>
  <cp:revision>1</cp:revision>
  <dc:title>Google Stock Price Prediction</dc:title>
</cp:coreProperties>
</file>